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Slides/notesSlide5.xml" ContentType="application/vnd.openxmlformats-officedocument.presentationml.notesSlide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1" d="100"/>
          <a:sy n="61" d="100"/>
        </p:scale>
        <p:origin x="860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E2761"/>
                </a:solidFill>
                <a:latin typeface="Arial"/>
              </a:defRPr>
            </a:pPr>
            <a:r>
              <a:rPr sz="1400" b="0" i="0" u="none" strike="noStrike">
                <a:solidFill>
                  <a:srgbClr val="1E2761"/>
                </a:solidFill>
                <a:latin typeface="Arial"/>
              </a:rPr>
              <a:t>Term deposit subscription split</a:t>
            </a:r>
          </a:p>
        </c:rich>
      </c:tx>
      <c:overlay val="0"/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Deposit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445069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93FF-48D0-8556-9F9824BA1F9E}"/>
              </c:ext>
            </c:extLst>
          </c:dPt>
          <c:dPt>
            <c:idx val="1"/>
            <c:bubble3D val="0"/>
            <c:spPr>
              <a:solidFill>
                <a:srgbClr val="2E9E6D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93FF-48D0-8556-9F9824BA1F9E}"/>
              </c:ext>
            </c:extLst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3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93FF-48D0-8556-9F9824BA1F9E}"/>
                </c:ext>
              </c:extLst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3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93FF-48D0-8556-9F9824BA1F9E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Sheet1!$A$2:$A$3</c:f>
              <c:strCache>
                <c:ptCount val="2"/>
                <c:pt idx="0">
                  <c:v>No</c:v>
                </c:pt>
                <c:pt idx="1">
                  <c:v>Yes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52.6</c:v>
                </c:pt>
                <c:pt idx="1">
                  <c:v>47.4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93FF-48D0-8556-9F9824BA1F9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E2761"/>
                </a:solidFill>
                <a:latin typeface="Arial"/>
              </a:defRPr>
            </a:pPr>
            <a:r>
              <a:rPr sz="1400" b="0" i="0" u="none" strike="noStrike">
                <a:solidFill>
                  <a:srgbClr val="1E2761"/>
                </a:solidFill>
                <a:latin typeface="Arial"/>
              </a:rPr>
              <a:t>Client count by age group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Clients</c:v>
                </c:pt>
              </c:strCache>
            </c:strRef>
          </c:tx>
          <c:spPr>
            <a:solidFill>
              <a:srgbClr val="1E2761"/>
            </a:solidFill>
            <a:effectLst/>
          </c:spPr>
          <c:invertIfNegative val="0"/>
          <c:cat>
            <c:strRef>
              <c:f>Sheet1!$A$2:$A$7</c:f>
              <c:strCache>
                <c:ptCount val="6"/>
                <c:pt idx="0">
                  <c:v>18-25</c:v>
                </c:pt>
                <c:pt idx="1">
                  <c:v>26-35</c:v>
                </c:pt>
                <c:pt idx="2">
                  <c:v>36-45</c:v>
                </c:pt>
                <c:pt idx="3">
                  <c:v>46-55</c:v>
                </c:pt>
                <c:pt idx="4">
                  <c:v>56-65</c:v>
                </c:pt>
                <c:pt idx="5">
                  <c:v>66+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490</c:v>
                </c:pt>
                <c:pt idx="1">
                  <c:v>3921</c:v>
                </c:pt>
                <c:pt idx="2">
                  <c:v>3158</c:v>
                </c:pt>
                <c:pt idx="3">
                  <c:v>2149</c:v>
                </c:pt>
                <c:pt idx="4">
                  <c:v>1086</c:v>
                </c:pt>
                <c:pt idx="5">
                  <c:v>398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06F-4D18-A346-04887A1FB51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45069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45069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E2761"/>
                </a:solidFill>
                <a:latin typeface="Arial"/>
              </a:defRPr>
            </a:pPr>
            <a:r>
              <a:rPr sz="1400" b="0" i="0" u="none" strike="noStrike">
                <a:solidFill>
                  <a:srgbClr val="1E2761"/>
                </a:solidFill>
                <a:latin typeface="Arial"/>
              </a:rPr>
              <a:t>Subscription rate by job (%)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Subscription rate %</c:v>
                </c:pt>
              </c:strCache>
            </c:strRef>
          </c:tx>
          <c:spPr>
            <a:solidFill>
              <a:srgbClr val="2E9E6D"/>
            </a:solidFill>
            <a:effectLst/>
          </c:spPr>
          <c:invertIfNegative val="0"/>
          <c:cat>
            <c:strRef>
              <c:f>Sheet1!$A$2:$A$11</c:f>
              <c:strCache>
                <c:ptCount val="10"/>
                <c:pt idx="0">
                  <c:v>Student</c:v>
                </c:pt>
                <c:pt idx="1">
                  <c:v>Retired</c:v>
                </c:pt>
                <c:pt idx="2">
                  <c:v>Unemployed</c:v>
                </c:pt>
                <c:pt idx="3">
                  <c:v>Management</c:v>
                </c:pt>
                <c:pt idx="4">
                  <c:v>Admin.</c:v>
                </c:pt>
                <c:pt idx="5">
                  <c:v>Technician</c:v>
                </c:pt>
                <c:pt idx="6">
                  <c:v>Services</c:v>
                </c:pt>
                <c:pt idx="7">
                  <c:v>Housemaid</c:v>
                </c:pt>
                <c:pt idx="8">
                  <c:v>Entrepreneur</c:v>
                </c:pt>
                <c:pt idx="9">
                  <c:v>Blue-collar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74.7</c:v>
                </c:pt>
                <c:pt idx="1">
                  <c:v>66.3</c:v>
                </c:pt>
                <c:pt idx="2">
                  <c:v>56.6</c:v>
                </c:pt>
                <c:pt idx="3">
                  <c:v>50.7</c:v>
                </c:pt>
                <c:pt idx="4">
                  <c:v>47.3</c:v>
                </c:pt>
                <c:pt idx="5">
                  <c:v>46.1</c:v>
                </c:pt>
                <c:pt idx="6">
                  <c:v>40</c:v>
                </c:pt>
                <c:pt idx="7">
                  <c:v>39.799999999999997</c:v>
                </c:pt>
                <c:pt idx="8">
                  <c:v>37.5</c:v>
                </c:pt>
                <c:pt idx="9">
                  <c:v>36.4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9FC-4E9C-BE42-29483B25774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445069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45069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E2761"/>
                </a:solidFill>
                <a:latin typeface="Arial"/>
              </a:defRPr>
            </a:pPr>
            <a:r>
              <a:rPr sz="1400" b="0" i="0" u="none" strike="noStrike">
                <a:solidFill>
                  <a:srgbClr val="1E2761"/>
                </a:solidFill>
                <a:latin typeface="Arial"/>
              </a:rPr>
              <a:t>Subscription rate by month (%)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Subscription rate %</c:v>
                </c:pt>
              </c:strCache>
            </c:strRef>
          </c:tx>
          <c:spPr>
            <a:ln w="38100" cap="flat">
              <a:solidFill>
                <a:srgbClr val="1E2761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1E2761"/>
              </a:solidFill>
              <a:ln w="9525" cap="flat">
                <a:solidFill>
                  <a:srgbClr val="1E2761"/>
                </a:solidFill>
                <a:prstDash val="solid"/>
                <a:round/>
              </a:ln>
              <a:effectLst/>
            </c:spPr>
          </c:marker>
          <c:cat>
            <c:strRef>
              <c:f>Sheet1!$A$2:$A$13</c:f>
              <c:strCache>
                <c:ptCount val="12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41.3</c:v>
                </c:pt>
                <c:pt idx="1">
                  <c:v>56.8</c:v>
                </c:pt>
                <c:pt idx="2">
                  <c:v>89.9</c:v>
                </c:pt>
                <c:pt idx="3">
                  <c:v>62.5</c:v>
                </c:pt>
                <c:pt idx="4">
                  <c:v>32.799999999999997</c:v>
                </c:pt>
                <c:pt idx="5">
                  <c:v>44.7</c:v>
                </c:pt>
                <c:pt idx="6">
                  <c:v>41.4</c:v>
                </c:pt>
                <c:pt idx="7">
                  <c:v>45.3</c:v>
                </c:pt>
                <c:pt idx="8">
                  <c:v>84.3</c:v>
                </c:pt>
                <c:pt idx="9">
                  <c:v>82.4</c:v>
                </c:pt>
                <c:pt idx="10">
                  <c:v>42.7</c:v>
                </c:pt>
                <c:pt idx="11">
                  <c:v>90.9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0-D1E9-414C-826A-C5089824B2E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445069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45069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421810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chart" Target="../charts/chart2.xml"/><Relationship Id="rId4" Type="http://schemas.openxmlformats.org/officeDocument/2006/relationships/chart" Target="../charts/char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chart" Target="../charts/chart4.xml"/><Relationship Id="rId4" Type="http://schemas.openxmlformats.org/officeDocument/2006/relationships/chart" Target="../charts/char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2011680"/>
            <a:ext cx="5486400" cy="5486400"/>
          </a:xfrm>
          <a:prstGeom prst="ellipse">
            <a:avLst/>
          </a:prstGeom>
          <a:solidFill>
            <a:srgbClr val="263775"/>
          </a:solidFill>
          <a:ln/>
        </p:spPr>
      </p:sp>
      <p:sp>
        <p:nvSpPr>
          <p:cNvPr id="3" name="Shape 1"/>
          <p:cNvSpPr/>
          <p:nvPr/>
        </p:nvSpPr>
        <p:spPr>
          <a:xfrm>
            <a:off x="-2286000" y="4572000"/>
            <a:ext cx="4572000" cy="4572000"/>
          </a:xfrm>
          <a:prstGeom prst="ellipse">
            <a:avLst/>
          </a:prstGeom>
          <a:solidFill>
            <a:srgbClr val="263775"/>
          </a:solidFill>
          <a:ln/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822960"/>
            <a:ext cx="548640" cy="5486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22960" y="1508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ANALYTICS CASE STUDY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777240" y="1874520"/>
            <a:ext cx="96012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Bank marketing campaign analysis</a:t>
            </a:r>
            <a:endParaRPr lang="en-US" sz="4000" dirty="0"/>
          </a:p>
        </p:txBody>
      </p:sp>
      <p:sp>
        <p:nvSpPr>
          <p:cNvPr id="7" name="Text 4"/>
          <p:cNvSpPr/>
          <p:nvPr/>
        </p:nvSpPr>
        <p:spPr>
          <a:xfrm>
            <a:off x="822960" y="3063240"/>
            <a:ext cx="8686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Identifying the customer segments and contact strategies that drive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 deposit subscription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822960" y="60350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C9A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AnalystLab Africa Data Analytics Internship Program  |  Week 5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502920"/>
            <a:ext cx="411480" cy="41148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51560" y="457200"/>
            <a:ext cx="9144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Business problem statement</a:t>
            </a:r>
            <a:endParaRPr lang="en-US" sz="2800" dirty="0"/>
          </a:p>
        </p:txBody>
      </p:sp>
      <p:sp>
        <p:nvSpPr>
          <p:cNvPr id="4" name="Shape 1"/>
          <p:cNvSpPr/>
          <p:nvPr/>
        </p:nvSpPr>
        <p:spPr>
          <a:xfrm>
            <a:off x="548640" y="1371600"/>
            <a:ext cx="11064240" cy="1920240"/>
          </a:xfrm>
          <a:prstGeom prst="roundRect">
            <a:avLst>
              <a:gd name="adj" fmla="val 3810"/>
            </a:avLst>
          </a:prstGeom>
          <a:solidFill>
            <a:srgbClr val="F4F6FB"/>
          </a:solidFill>
          <a:ln/>
        </p:spPr>
      </p:sp>
      <p:sp>
        <p:nvSpPr>
          <p:cNvPr id="5" name="Text 2"/>
          <p:cNvSpPr/>
          <p:nvPr/>
        </p:nvSpPr>
        <p:spPr>
          <a:xfrm>
            <a:off x="914400" y="1554480"/>
            <a:ext cx="1042416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i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do some bank customers subscribe to a term deposit while others do not, and which customer segments are most likely to respond positively to future marketing campaigns?</a:t>
            </a:r>
            <a:endParaRPr lang="en-US" sz="2000" dirty="0"/>
          </a:p>
        </p:txBody>
      </p:sp>
      <p:sp>
        <p:nvSpPr>
          <p:cNvPr id="6" name="Text 3"/>
          <p:cNvSpPr/>
          <p:nvPr/>
        </p:nvSpPr>
        <p:spPr>
          <a:xfrm>
            <a:off x="548640" y="35661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4450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bank needs to identify the key drivers of subscription and target high-propensity customers in order to improve the effectiveness and efficiency of its next telemarketing campaign.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548640" y="4663440"/>
            <a:ext cx="3520440" cy="1554480"/>
          </a:xfrm>
          <a:prstGeom prst="roundRect">
            <a:avLst>
              <a:gd name="adj" fmla="val 4706"/>
            </a:avLst>
          </a:prstGeom>
          <a:solidFill>
            <a:srgbClr val="1E2761"/>
          </a:solidFill>
          <a:ln/>
        </p:spPr>
      </p:sp>
      <p:sp>
        <p:nvSpPr>
          <p:cNvPr id="8" name="Text 5"/>
          <p:cNvSpPr/>
          <p:nvPr/>
        </p:nvSpPr>
        <p:spPr>
          <a:xfrm>
            <a:off x="548640" y="4846320"/>
            <a:ext cx="3520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11,162</a:t>
            </a:r>
            <a:endParaRPr lang="en-US" sz="3200" dirty="0"/>
          </a:p>
        </p:txBody>
      </p:sp>
      <p:sp>
        <p:nvSpPr>
          <p:cNvPr id="9" name="Text 6"/>
          <p:cNvSpPr/>
          <p:nvPr/>
        </p:nvSpPr>
        <p:spPr>
          <a:xfrm>
            <a:off x="548640" y="5532120"/>
            <a:ext cx="3520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contacts analysed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297680" y="4663440"/>
            <a:ext cx="3520440" cy="1554480"/>
          </a:xfrm>
          <a:prstGeom prst="roundRect">
            <a:avLst>
              <a:gd name="adj" fmla="val 4706"/>
            </a:avLst>
          </a:prstGeom>
          <a:solidFill>
            <a:srgbClr val="1E2761"/>
          </a:solidFill>
          <a:ln/>
        </p:spPr>
      </p:sp>
      <p:sp>
        <p:nvSpPr>
          <p:cNvPr id="11" name="Text 8"/>
          <p:cNvSpPr/>
          <p:nvPr/>
        </p:nvSpPr>
        <p:spPr>
          <a:xfrm>
            <a:off x="4297680" y="4846320"/>
            <a:ext cx="3520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47.4%</a:t>
            </a:r>
            <a:endParaRPr lang="en-US" sz="3200" dirty="0"/>
          </a:p>
        </p:txBody>
      </p:sp>
      <p:sp>
        <p:nvSpPr>
          <p:cNvPr id="12" name="Text 9"/>
          <p:cNvSpPr/>
          <p:nvPr/>
        </p:nvSpPr>
        <p:spPr>
          <a:xfrm>
            <a:off x="4297680" y="5532120"/>
            <a:ext cx="3520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conversion rate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8046720" y="4663440"/>
            <a:ext cx="3520440" cy="1554480"/>
          </a:xfrm>
          <a:prstGeom prst="roundRect">
            <a:avLst>
              <a:gd name="adj" fmla="val 4706"/>
            </a:avLst>
          </a:prstGeom>
          <a:solidFill>
            <a:srgbClr val="1E2761"/>
          </a:solidFill>
          <a:ln/>
        </p:spPr>
      </p:sp>
      <p:sp>
        <p:nvSpPr>
          <p:cNvPr id="14" name="Text 11"/>
          <p:cNvSpPr/>
          <p:nvPr/>
        </p:nvSpPr>
        <p:spPr>
          <a:xfrm>
            <a:off x="8046720" y="4846320"/>
            <a:ext cx="3520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17</a:t>
            </a:r>
            <a:endParaRPr lang="en-US" sz="3200" dirty="0"/>
          </a:p>
        </p:txBody>
      </p:sp>
      <p:sp>
        <p:nvSpPr>
          <p:cNvPr id="15" name="Text 12"/>
          <p:cNvSpPr/>
          <p:nvPr/>
        </p:nvSpPr>
        <p:spPr>
          <a:xfrm>
            <a:off x="8046720" y="5532120"/>
            <a:ext cx="3520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 per client record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502920"/>
            <a:ext cx="411480" cy="41148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51560" y="457200"/>
            <a:ext cx="9144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Dataset overview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1051560" y="91440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450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Portuguese bank telemarketing campaign data (UCI / Kaggle)</a:t>
            </a:r>
            <a:endParaRPr lang="en-US" sz="14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6949440" cy="914400"/>
        </p:xfrm>
        <a:graphic>
          <a:graphicData uri="http://schemas.openxmlformats.org/drawingml/2006/table">
            <a:tbl>
              <a:tblPr/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7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Category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Variables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4450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Demographics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4450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age, job, marital, education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4450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Financial standing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4450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balance, default, housing loan, personal loan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4450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Campaign contact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4450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contact type, day, month, duration, campaign count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4450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Prior history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4450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pdays, previous, poutcome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4450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Target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4450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deposit (yes / no subscription)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Shape 2"/>
          <p:cNvSpPr/>
          <p:nvPr/>
        </p:nvSpPr>
        <p:spPr>
          <a:xfrm>
            <a:off x="7772400" y="1463040"/>
            <a:ext cx="3840480" cy="4526280"/>
          </a:xfrm>
          <a:prstGeom prst="roundRect">
            <a:avLst>
              <a:gd name="adj" fmla="val 1905"/>
            </a:avLst>
          </a:prstGeom>
          <a:solidFill>
            <a:srgbClr val="F4F6FB"/>
          </a:solidFill>
          <a:ln/>
        </p:spPr>
      </p:sp>
      <p:sp>
        <p:nvSpPr>
          <p:cNvPr id="7" name="Text 3"/>
          <p:cNvSpPr/>
          <p:nvPr/>
        </p:nvSpPr>
        <p:spPr>
          <a:xfrm>
            <a:off x="8046720" y="169164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quality check</a:t>
            </a:r>
            <a:endParaRPr lang="en-US" sz="1500" dirty="0"/>
          </a:p>
        </p:txBody>
      </p:sp>
      <p:sp>
        <p:nvSpPr>
          <p:cNvPr id="8" name="Text 4"/>
          <p:cNvSpPr/>
          <p:nvPr/>
        </p:nvSpPr>
        <p:spPr>
          <a:xfrm>
            <a:off x="8046720" y="2103120"/>
            <a:ext cx="3291840" cy="3749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250" dirty="0">
                <a:solidFill>
                  <a:srgbClr val="4450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missing values across all 17 columns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250" dirty="0">
                <a:solidFill>
                  <a:srgbClr val="4450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11,162 rows, no duplicate records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250" dirty="0">
                <a:solidFill>
                  <a:srgbClr val="4450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split: 52.6% no / 47.4% yes — reasonably balanced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250" dirty="0">
                <a:solidFill>
                  <a:srgbClr val="4450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Outliers present in balance (-€6,847 to €81,204) and duration (2s to 65min)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502920"/>
            <a:ext cx="411480" cy="41148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51560" y="457200"/>
            <a:ext cx="10424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Who are we contacting, and what's the baseline?</a:t>
            </a:r>
            <a:endParaRPr lang="en-US" sz="24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548640" y="1280160"/>
          <a:ext cx="5120640" cy="42976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5" name="Chart 1"/>
          <p:cNvGraphicFramePr/>
          <p:nvPr/>
        </p:nvGraphicFramePr>
        <p:xfrm>
          <a:off x="5852160" y="1280160"/>
          <a:ext cx="5760720" cy="42976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6" name="Text 1"/>
          <p:cNvSpPr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4450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contacted clients fall in the 26-45 working-age range — yet this is not where the highest conversion happens (see next slide).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502920"/>
            <a:ext cx="411480" cy="41148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51560" y="457200"/>
            <a:ext cx="10424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Conversion varies sharply by segment and timing</a:t>
            </a:r>
            <a:endParaRPr lang="en-US" sz="24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548640" y="1234440"/>
          <a:ext cx="5669280" cy="44348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5" name="Chart 1"/>
          <p:cNvGraphicFramePr/>
          <p:nvPr/>
        </p:nvGraphicFramePr>
        <p:xfrm>
          <a:off x="6309360" y="1234440"/>
          <a:ext cx="5303520" cy="44348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6" name="Text 1"/>
          <p:cNvSpPr/>
          <p:nvPr/>
        </p:nvSpPr>
        <p:spPr>
          <a:xfrm>
            <a:off x="548640" y="576072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4450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 is both the most heavily-called month and the lowest converting (32.8%) — a direct mismatch between effort and return.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502920"/>
            <a:ext cx="411480" cy="41148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51560" y="457200"/>
            <a:ext cx="9144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Top factors driving subscription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1051560" y="91440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450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Ranked using a Random Forest pre-call targeting model (AUC = 0.77)</a:t>
            </a:r>
            <a:endParaRPr lang="en-US" sz="1400" dirty="0"/>
          </a:p>
        </p:txBody>
      </p:sp>
      <p:sp>
        <p:nvSpPr>
          <p:cNvPr id="5" name="Shape 2"/>
          <p:cNvSpPr/>
          <p:nvPr/>
        </p:nvSpPr>
        <p:spPr>
          <a:xfrm>
            <a:off x="548640" y="1554480"/>
            <a:ext cx="5349240" cy="2057400"/>
          </a:xfrm>
          <a:prstGeom prst="roundRect">
            <a:avLst>
              <a:gd name="adj" fmla="val 4444"/>
            </a:avLst>
          </a:prstGeom>
          <a:solidFill>
            <a:srgbClr val="F4F6FB"/>
          </a:solidFill>
          <a:ln/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822960" y="1828800"/>
            <a:ext cx="685800" cy="6858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2E9E6D"/>
            </a:solidFill>
            <a:prstDash val="solid"/>
          </a:ln>
        </p:spPr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7552" y="1993392"/>
            <a:ext cx="365760" cy="36576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737360" y="1810512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Previous campaign outcome</a:t>
            </a:r>
            <a:endParaRPr lang="en-US" sz="1600" dirty="0"/>
          </a:p>
        </p:txBody>
      </p:sp>
      <p:sp>
        <p:nvSpPr>
          <p:cNvPr id="9" name="Text 5"/>
          <p:cNvSpPr/>
          <p:nvPr/>
        </p:nvSpPr>
        <p:spPr>
          <a:xfrm>
            <a:off x="1737360" y="2267712"/>
            <a:ext cx="39319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4450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 success predicts ~91% conversion this time</a:t>
            </a:r>
            <a:endParaRPr lang="en-US" sz="1250" dirty="0"/>
          </a:p>
        </p:txBody>
      </p:sp>
      <p:sp>
        <p:nvSpPr>
          <p:cNvPr id="10" name="Shape 6"/>
          <p:cNvSpPr/>
          <p:nvPr/>
        </p:nvSpPr>
        <p:spPr>
          <a:xfrm>
            <a:off x="6172200" y="1554480"/>
            <a:ext cx="5349240" cy="2057400"/>
          </a:xfrm>
          <a:prstGeom prst="roundRect">
            <a:avLst>
              <a:gd name="adj" fmla="val 4444"/>
            </a:avLst>
          </a:prstGeom>
          <a:solidFill>
            <a:srgbClr val="F4F6FB"/>
          </a:solidFill>
          <a:ln/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6446520" y="1828800"/>
            <a:ext cx="685800" cy="6858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2E9E6D"/>
            </a:solidFill>
            <a:prstDash val="solid"/>
          </a:ln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11112" y="1993392"/>
            <a:ext cx="365760" cy="36576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7360920" y="1810512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 method</a:t>
            </a:r>
            <a:endParaRPr lang="en-US" sz="1600" dirty="0"/>
          </a:p>
        </p:txBody>
      </p:sp>
      <p:sp>
        <p:nvSpPr>
          <p:cNvPr id="14" name="Text 9"/>
          <p:cNvSpPr/>
          <p:nvPr/>
        </p:nvSpPr>
        <p:spPr>
          <a:xfrm>
            <a:off x="7360920" y="2267712"/>
            <a:ext cx="39319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4450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cellular/telephone outperforms unknown channel</a:t>
            </a:r>
            <a:endParaRPr lang="en-US" sz="1250" dirty="0"/>
          </a:p>
        </p:txBody>
      </p:sp>
      <p:sp>
        <p:nvSpPr>
          <p:cNvPr id="15" name="Shape 10"/>
          <p:cNvSpPr/>
          <p:nvPr/>
        </p:nvSpPr>
        <p:spPr>
          <a:xfrm>
            <a:off x="548640" y="3886200"/>
            <a:ext cx="5349240" cy="2057400"/>
          </a:xfrm>
          <a:prstGeom prst="roundRect">
            <a:avLst>
              <a:gd name="adj" fmla="val 4444"/>
            </a:avLst>
          </a:prstGeom>
          <a:solidFill>
            <a:srgbClr val="F4F6FB"/>
          </a:solidFill>
          <a:ln/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16" name="Shape 11"/>
          <p:cNvSpPr/>
          <p:nvPr/>
        </p:nvSpPr>
        <p:spPr>
          <a:xfrm>
            <a:off x="822960" y="4160520"/>
            <a:ext cx="685800" cy="6858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2E9E6D"/>
            </a:solidFill>
            <a:prstDash val="solid"/>
          </a:ln>
        </p:spPr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87552" y="4325112"/>
            <a:ext cx="365760" cy="36576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737360" y="4142232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of contact</a:t>
            </a:r>
            <a:endParaRPr lang="en-US" sz="1600" dirty="0"/>
          </a:p>
        </p:txBody>
      </p:sp>
      <p:sp>
        <p:nvSpPr>
          <p:cNvPr id="19" name="Text 13"/>
          <p:cNvSpPr/>
          <p:nvPr/>
        </p:nvSpPr>
        <p:spPr>
          <a:xfrm>
            <a:off x="1737360" y="4599432"/>
            <a:ext cx="39319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4450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Conversion swings from 33% (May) to 91% (Dec)</a:t>
            </a:r>
            <a:endParaRPr lang="en-US" sz="1250" dirty="0"/>
          </a:p>
        </p:txBody>
      </p:sp>
      <p:sp>
        <p:nvSpPr>
          <p:cNvPr id="20" name="Shape 14"/>
          <p:cNvSpPr/>
          <p:nvPr/>
        </p:nvSpPr>
        <p:spPr>
          <a:xfrm>
            <a:off x="6172200" y="3886200"/>
            <a:ext cx="5349240" cy="2057400"/>
          </a:xfrm>
          <a:prstGeom prst="roundRect">
            <a:avLst>
              <a:gd name="adj" fmla="val 4444"/>
            </a:avLst>
          </a:prstGeom>
          <a:solidFill>
            <a:srgbClr val="F4F6FB"/>
          </a:solidFill>
          <a:ln/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21" name="Shape 15"/>
          <p:cNvSpPr/>
          <p:nvPr/>
        </p:nvSpPr>
        <p:spPr>
          <a:xfrm>
            <a:off x="6446520" y="4160520"/>
            <a:ext cx="685800" cy="6858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2E9E6D"/>
            </a:solidFill>
            <a:prstDash val="solid"/>
          </a:ln>
        </p:spPr>
      </p:sp>
      <p:pic>
        <p:nvPicPr>
          <p:cNvPr id="22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11112" y="4325112"/>
            <a:ext cx="365760" cy="365760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7360920" y="4142232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 since last contact</a:t>
            </a:r>
            <a:endParaRPr lang="en-US" sz="1600" dirty="0"/>
          </a:p>
        </p:txBody>
      </p:sp>
      <p:sp>
        <p:nvSpPr>
          <p:cNvPr id="24" name="Text 17"/>
          <p:cNvSpPr/>
          <p:nvPr/>
        </p:nvSpPr>
        <p:spPr>
          <a:xfrm>
            <a:off x="7360920" y="4599432"/>
            <a:ext cx="39319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4450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Recently re-engaged clients convert better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502920"/>
            <a:ext cx="411480" cy="41148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51560" y="457200"/>
            <a:ext cx="9144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Major findings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640080" y="1371600"/>
            <a:ext cx="1069848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600"/>
              </a:spcAft>
              <a:buSzPct val="100000"/>
              <a:buChar char="●"/>
            </a:pPr>
            <a:r>
              <a:rPr lang="en-US" sz="1700" dirty="0">
                <a:solidFill>
                  <a:srgbClr val="4450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 are not all equally reachable: age, job, and education shape baseline propensity to subscribe.</a:t>
            </a:r>
            <a:endParaRPr lang="en-US" sz="1700" dirty="0"/>
          </a:p>
          <a:p>
            <a:pPr marL="342900" indent="-342900">
              <a:spcAft>
                <a:spcPts val="1600"/>
              </a:spcAft>
              <a:buSzPct val="100000"/>
              <a:buChar char="●"/>
            </a:pPr>
            <a:r>
              <a:rPr lang="en-US" sz="1700" dirty="0">
                <a:solidFill>
                  <a:srgbClr val="4450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 relationship history is the single strongest predictor available before any call — far stronger than demographics alone.</a:t>
            </a:r>
            <a:endParaRPr lang="en-US" sz="1700" dirty="0"/>
          </a:p>
          <a:p>
            <a:pPr marL="342900" indent="-342900">
              <a:spcAft>
                <a:spcPts val="1600"/>
              </a:spcAft>
              <a:buSzPct val="100000"/>
              <a:buChar char="●"/>
            </a:pPr>
            <a:r>
              <a:rPr lang="en-US" sz="1700" dirty="0">
                <a:solidFill>
                  <a:srgbClr val="4450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Campaign timing is a major lever: identical effort in different months yields wildly different results.</a:t>
            </a:r>
            <a:endParaRPr lang="en-US" sz="1700" dirty="0"/>
          </a:p>
          <a:p>
            <a:pPr marL="342900" indent="-342900">
              <a:spcAft>
                <a:spcPts val="1600"/>
              </a:spcAft>
              <a:buSzPct val="100000"/>
              <a:buChar char="●"/>
            </a:pPr>
            <a:r>
              <a:rPr lang="en-US" sz="1700" dirty="0">
                <a:solidFill>
                  <a:srgbClr val="4450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calls is not better: conversion drops sharply once a client has been contacted more than 2-3 times.</a:t>
            </a:r>
            <a:endParaRPr lang="en-US" sz="1700" dirty="0"/>
          </a:p>
          <a:p>
            <a:pPr marL="342900" indent="-342900">
              <a:spcAft>
                <a:spcPts val="1600"/>
              </a:spcAft>
              <a:buSzPct val="100000"/>
              <a:buChar char="●"/>
            </a:pPr>
            <a:r>
              <a:rPr lang="en-US" sz="1700" dirty="0">
                <a:solidFill>
                  <a:srgbClr val="4450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debt (housing or personal loans) correlates with lower conversion, a useful filter for prioritization.</a:t>
            </a:r>
            <a:endParaRPr lang="en-US" sz="1700" dirty="0"/>
          </a:p>
        </p:txBody>
      </p:sp>
      <p:sp>
        <p:nvSpPr>
          <p:cNvPr id="5" name="Shape 2"/>
          <p:cNvSpPr/>
          <p:nvPr/>
        </p:nvSpPr>
        <p:spPr>
          <a:xfrm>
            <a:off x="548640" y="5212080"/>
            <a:ext cx="11064240" cy="1005840"/>
          </a:xfrm>
          <a:prstGeom prst="roundRect">
            <a:avLst>
              <a:gd name="adj" fmla="val 7273"/>
            </a:avLst>
          </a:prstGeom>
          <a:solidFill>
            <a:srgbClr val="F4F6FB"/>
          </a:solidFill>
          <a:ln/>
        </p:spPr>
      </p:sp>
      <p:sp>
        <p:nvSpPr>
          <p:cNvPr id="6" name="Text 3"/>
          <p:cNvSpPr/>
          <p:nvPr/>
        </p:nvSpPr>
        <p:spPr>
          <a:xfrm>
            <a:off x="822960" y="5212080"/>
            <a:ext cx="10515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Bottom line:  </a:t>
            </a:r>
            <a:r>
              <a:rPr lang="en-US" sz="1450" dirty="0">
                <a:solidFill>
                  <a:srgbClr val="4450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bank's current approach over-weights call volume and under-weights targeting quality — a fixable, data-driven gap.</a:t>
            </a:r>
            <a:endParaRPr lang="en-US" sz="14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502920"/>
            <a:ext cx="411480" cy="41148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51560" y="457200"/>
            <a:ext cx="10058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Recommendations for the next campaign</a:t>
            </a:r>
            <a:endParaRPr lang="en-US" sz="2600" dirty="0"/>
          </a:p>
        </p:txBody>
      </p:sp>
      <p:sp>
        <p:nvSpPr>
          <p:cNvPr id="4" name="Shape 1"/>
          <p:cNvSpPr/>
          <p:nvPr/>
        </p:nvSpPr>
        <p:spPr>
          <a:xfrm>
            <a:off x="640080" y="1417320"/>
            <a:ext cx="502920" cy="502920"/>
          </a:xfrm>
          <a:prstGeom prst="ellipse">
            <a:avLst/>
          </a:prstGeom>
          <a:solidFill>
            <a:srgbClr val="2E9E6D"/>
          </a:solidFill>
          <a:ln/>
        </p:spPr>
      </p:sp>
      <p:sp>
        <p:nvSpPr>
          <p:cNvPr id="5" name="Text 2"/>
          <p:cNvSpPr/>
          <p:nvPr/>
        </p:nvSpPr>
        <p:spPr>
          <a:xfrm>
            <a:off x="640080" y="14173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1417320" y="1399032"/>
            <a:ext cx="10149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warm-leads list from clients with successful or recent prior campaign contact</a:t>
            </a:r>
            <a:endParaRPr lang="en-US" sz="1550" dirty="0"/>
          </a:p>
        </p:txBody>
      </p:sp>
      <p:sp>
        <p:nvSpPr>
          <p:cNvPr id="7" name="Shape 4"/>
          <p:cNvSpPr/>
          <p:nvPr/>
        </p:nvSpPr>
        <p:spPr>
          <a:xfrm>
            <a:off x="640080" y="2331720"/>
            <a:ext cx="502920" cy="502920"/>
          </a:xfrm>
          <a:prstGeom prst="ellipse">
            <a:avLst/>
          </a:prstGeom>
          <a:solidFill>
            <a:srgbClr val="2E9E6D"/>
          </a:solidFill>
          <a:ln/>
        </p:spPr>
      </p:sp>
      <p:sp>
        <p:nvSpPr>
          <p:cNvPr id="8" name="Text 5"/>
          <p:cNvSpPr/>
          <p:nvPr/>
        </p:nvSpPr>
        <p:spPr>
          <a:xfrm>
            <a:off x="640080" y="23317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1417320" y="2313432"/>
            <a:ext cx="10149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Reallocate calling volume away from May toward December, March, September, October</a:t>
            </a:r>
            <a:endParaRPr lang="en-US" sz="1550" dirty="0"/>
          </a:p>
        </p:txBody>
      </p:sp>
      <p:sp>
        <p:nvSpPr>
          <p:cNvPr id="10" name="Shape 7"/>
          <p:cNvSpPr/>
          <p:nvPr/>
        </p:nvSpPr>
        <p:spPr>
          <a:xfrm>
            <a:off x="640080" y="3246120"/>
            <a:ext cx="502920" cy="502920"/>
          </a:xfrm>
          <a:prstGeom prst="ellipse">
            <a:avLst/>
          </a:prstGeom>
          <a:solidFill>
            <a:srgbClr val="2E9E6D"/>
          </a:solidFill>
          <a:ln/>
        </p:spPr>
      </p:sp>
      <p:sp>
        <p:nvSpPr>
          <p:cNvPr id="11" name="Text 8"/>
          <p:cNvSpPr/>
          <p:nvPr/>
        </p:nvSpPr>
        <p:spPr>
          <a:xfrm>
            <a:off x="640080" y="32461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1417320" y="3227832"/>
            <a:ext cx="10149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Prioritize students, retirees, and clients outside the 35-55 age core</a:t>
            </a:r>
            <a:endParaRPr lang="en-US" sz="1550" dirty="0"/>
          </a:p>
        </p:txBody>
      </p:sp>
      <p:sp>
        <p:nvSpPr>
          <p:cNvPr id="13" name="Shape 10"/>
          <p:cNvSpPr/>
          <p:nvPr/>
        </p:nvSpPr>
        <p:spPr>
          <a:xfrm>
            <a:off x="640080" y="4160520"/>
            <a:ext cx="502920" cy="502920"/>
          </a:xfrm>
          <a:prstGeom prst="ellipse">
            <a:avLst/>
          </a:prstGeom>
          <a:solidFill>
            <a:srgbClr val="2E9E6D"/>
          </a:solidFill>
          <a:ln/>
        </p:spPr>
      </p:sp>
      <p:sp>
        <p:nvSpPr>
          <p:cNvPr id="14" name="Text 11"/>
          <p:cNvSpPr/>
          <p:nvPr/>
        </p:nvSpPr>
        <p:spPr>
          <a:xfrm>
            <a:off x="640080" y="41605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15" name="Text 12"/>
          <p:cNvSpPr/>
          <p:nvPr/>
        </p:nvSpPr>
        <p:spPr>
          <a:xfrm>
            <a:off x="1417320" y="4142232"/>
            <a:ext cx="10149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 contact attempts at 2-3 per client to avoid fatigue and wasted effort</a:t>
            </a:r>
            <a:endParaRPr lang="en-US" sz="1550" dirty="0"/>
          </a:p>
        </p:txBody>
      </p:sp>
      <p:sp>
        <p:nvSpPr>
          <p:cNvPr id="16" name="Shape 13"/>
          <p:cNvSpPr/>
          <p:nvPr/>
        </p:nvSpPr>
        <p:spPr>
          <a:xfrm>
            <a:off x="640080" y="5074920"/>
            <a:ext cx="502920" cy="502920"/>
          </a:xfrm>
          <a:prstGeom prst="ellipse">
            <a:avLst/>
          </a:prstGeom>
          <a:solidFill>
            <a:srgbClr val="2E9E6D"/>
          </a:solidFill>
          <a:ln/>
        </p:spPr>
      </p:sp>
      <p:sp>
        <p:nvSpPr>
          <p:cNvPr id="17" name="Text 14"/>
          <p:cNvSpPr/>
          <p:nvPr/>
        </p:nvSpPr>
        <p:spPr>
          <a:xfrm>
            <a:off x="640080" y="50749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800" dirty="0"/>
          </a:p>
        </p:txBody>
      </p:sp>
      <p:sp>
        <p:nvSpPr>
          <p:cNvPr id="18" name="Text 15"/>
          <p:cNvSpPr/>
          <p:nvPr/>
        </p:nvSpPr>
        <p:spPr>
          <a:xfrm>
            <a:off x="1417320" y="5056632"/>
            <a:ext cx="10149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verified cellular/telephone contact data; reduce reliance on unknown channels</a:t>
            </a:r>
            <a:endParaRPr lang="en-US" sz="15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2286000"/>
            <a:ext cx="5486400" cy="5486400"/>
          </a:xfrm>
          <a:prstGeom prst="ellipse">
            <a:avLst/>
          </a:prstGeom>
          <a:solidFill>
            <a:srgbClr val="263775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822960"/>
            <a:ext cx="502920" cy="5029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77240" y="146304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</a:t>
            </a:r>
            <a:endParaRPr lang="en-US" sz="3200" dirty="0"/>
          </a:p>
        </p:txBody>
      </p:sp>
      <p:sp>
        <p:nvSpPr>
          <p:cNvPr id="5" name="Text 2"/>
          <p:cNvSpPr/>
          <p:nvPr/>
        </p:nvSpPr>
        <p:spPr>
          <a:xfrm>
            <a:off x="822960" y="2286000"/>
            <a:ext cx="987552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Subscription is driven less by who a client is, and more by how and when the bank engages them. Prioritizing warm leads, high-converting months, and underused customer segments — while capping low-value repeat contacts — can lift conversion well above the 47.4% baseline without increasing total campaign effort.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822960" y="5120640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822960" y="63093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C9A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AnalystLab Africa Data Analytics Internship Program  |  Week 5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626</Words>
  <Application>Microsoft Office PowerPoint</Application>
  <PresentationFormat>Widescreen</PresentationFormat>
  <Paragraphs>82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Bank Marketing Campaign Analysis</dc:title>
  <dc:subject>PptxGenJS Presentation</dc:subject>
  <dc:creator>AnalystLab Africa Intern</dc:creator>
  <cp:lastModifiedBy>kemmie2323@gmail.com</cp:lastModifiedBy>
  <cp:revision>1</cp:revision>
  <dcterms:created xsi:type="dcterms:W3CDTF">2026-06-30T11:14:53Z</dcterms:created>
  <dcterms:modified xsi:type="dcterms:W3CDTF">2026-06-30T11:52:55Z</dcterms:modified>
</cp:coreProperties>
</file>