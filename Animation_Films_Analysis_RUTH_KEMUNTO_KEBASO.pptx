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74" r:id="rId12"/>
    <p:sldId id="275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Animation Films Data Analysis (1878–2029)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RUTH KEMUNTO KEBASO</a:t>
            </a:r>
          </a:p>
          <a:p>
            <a:r>
              <a:rPr dirty="0"/>
              <a:t>Date: 29/04/2026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animation film industry has evolved significantly over time, transitioning from traditional hand-drawn techniques to advanced CGI and digital production. However, there is limited structured analysis on how animation styles, production trends, financial performance, and global distribution have changed across decades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This project aims to analyze an animated films dataset (1878–2029) to understand trends in production, ratings, financial performance, and global contributions in animation filmmaking.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6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main objectives of this analysis were:</a:t>
            </a:r>
          </a:p>
          <a:p>
            <a:r>
              <a:rPr lang="en-US" sz="2400" dirty="0"/>
              <a:t>To identify countries that produce the highest-rated animated films </a:t>
            </a:r>
          </a:p>
          <a:p>
            <a:r>
              <a:rPr lang="en-US" sz="2400" dirty="0"/>
              <a:t>To analyze how animation styles have changed across decades </a:t>
            </a:r>
          </a:p>
          <a:p>
            <a:r>
              <a:rPr lang="en-US" sz="2400" dirty="0"/>
              <a:t>To determine directors with the highest number of animated films </a:t>
            </a:r>
          </a:p>
          <a:p>
            <a:r>
              <a:rPr lang="en-US" sz="2400" dirty="0"/>
              <a:t>To explore the relationship between budget and box office revenue </a:t>
            </a:r>
          </a:p>
          <a:p>
            <a:r>
              <a:rPr lang="en-US" sz="2400" dirty="0"/>
              <a:t>To identify decades with the highest number of “hidden gem” films (high-rated films) 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6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To visualize global animation production distribution using a world map </a:t>
            </a:r>
          </a:p>
          <a:p>
            <a:r>
              <a:rPr lang="en-US" sz="2400" dirty="0"/>
              <a:t>To understand the historical evolution of animation from 1878 to present</a:t>
            </a:r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83247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Time range: 1878–2029</a:t>
            </a:r>
          </a:p>
          <a:p>
            <a:r>
              <a:rPr sz="2400" dirty="0"/>
              <a:t>- Key features: Country, Rating, Budget, Box Office, Animation Style, Decade</a:t>
            </a:r>
          </a:p>
          <a:p>
            <a:r>
              <a:rPr sz="2400" dirty="0"/>
              <a:t>- Contains missing values in financial fields</a:t>
            </a:r>
          </a:p>
          <a:p>
            <a:r>
              <a:rPr sz="2400" dirty="0"/>
              <a:t>- Multi-country entries cleaned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Data Cleaning and Preparation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6472" y="1314086"/>
            <a:ext cx="809105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dataset contained missing values and inconsistencies that required preprocessing: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Significant missing values were found in TMDB_Rating, budget, and box_office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Rows with missing key analytical values were handled using filtering or removal depending on analysis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Country_Origin column contained multiple countries per entry, which were split and standardized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Decade information was structured to enable time-based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Due to high missing values in financial columns (~98%), budget and revenue analysis was conducted on a reduced subset of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Data Analysis (EDA) 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4.1 Country-wise Ratings</a:t>
            </a:r>
          </a:p>
          <a:p>
            <a:r>
              <a:rPr lang="en-US" sz="2400" dirty="0"/>
              <a:t>Some countries showed higher average ratings for animated films </a:t>
            </a:r>
          </a:p>
          <a:p>
            <a:r>
              <a:rPr lang="en-US" sz="2400" dirty="0"/>
              <a:t>However, filtering revealed that countries with very few films sometimes appeared artificially high </a:t>
            </a:r>
          </a:p>
          <a:p>
            <a:r>
              <a:rPr lang="en-US" sz="2400" dirty="0"/>
              <a:t>After controlling for sample size, results showed more balanced global performance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4.2 Animation Style Trends Across Decades</a:t>
            </a:r>
          </a:p>
          <a:p>
            <a:r>
              <a:rPr lang="en-US" sz="2400" dirty="0"/>
              <a:t>Traditional 2D animation dominated early decades </a:t>
            </a:r>
          </a:p>
          <a:p>
            <a:r>
              <a:rPr lang="en-US" sz="2400" dirty="0"/>
              <a:t>A clear decline in 2D animation was observed in recent decades </a:t>
            </a:r>
          </a:p>
          <a:p>
            <a:r>
              <a:rPr lang="en-US" sz="2400" dirty="0"/>
              <a:t>CGI/3D animation increased significantly from the 2000s onwards </a:t>
            </a:r>
          </a:p>
          <a:p>
            <a:r>
              <a:rPr lang="en-US" sz="2400" dirty="0"/>
              <a:t>Stop-motion and motion capture remained relatively stable over time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 animation industry has undergone a major technological shift from 2D to CGI-based production.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4.3 Directors with Most Films</a:t>
            </a:r>
          </a:p>
          <a:p>
            <a:r>
              <a:rPr lang="en-US" sz="2400" dirty="0"/>
              <a:t>Grouping by directors showed that a small number of directors contributed a large number of animated films </a:t>
            </a:r>
          </a:p>
          <a:p>
            <a:r>
              <a:rPr lang="en-US" sz="2400" dirty="0"/>
              <a:t>A large portion of entries were classified as “Unknown”, indicating missing metadata </a:t>
            </a:r>
          </a:p>
          <a:p>
            <a:pPr marL="0" indent="0">
              <a:buNone/>
            </a:pPr>
            <a:r>
              <a:rPr lang="en-US" sz="2400" dirty="0" smtClean="0"/>
              <a:t>Animation </a:t>
            </a:r>
            <a:r>
              <a:rPr lang="en-US" sz="2400" dirty="0"/>
              <a:t>production is concentrated among a few key creators, but missing data limits full interpretation.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30762"/>
          </a:xfrm>
        </p:spPr>
        <p:txBody>
          <a:bodyPr>
            <a:noAutofit/>
          </a:bodyPr>
          <a:lstStyle/>
          <a:p>
            <a:r>
              <a:rPr lang="en-US" sz="2400" b="1" dirty="0"/>
              <a:t>4.4 Budget vs Box Office Relationship</a:t>
            </a:r>
          </a:p>
          <a:p>
            <a:r>
              <a:rPr lang="en-US" sz="2400" dirty="0"/>
              <a:t>A scatter plot showed a general positive relationship between budget and box office revenue </a:t>
            </a:r>
          </a:p>
          <a:p>
            <a:r>
              <a:rPr lang="en-US" sz="2400" dirty="0"/>
              <a:t>However, the relationship was not strictly linear </a:t>
            </a:r>
          </a:p>
          <a:p>
            <a:r>
              <a:rPr lang="en-US" sz="2400" dirty="0"/>
              <a:t>Several outliers were identified: </a:t>
            </a:r>
          </a:p>
          <a:p>
            <a:pPr lvl="1"/>
            <a:r>
              <a:rPr lang="en-US" sz="2400" dirty="0"/>
              <a:t>Low-budget films with high revenue (</a:t>
            </a:r>
            <a:r>
              <a:rPr lang="en-US" sz="2400" dirty="0" smtClean="0"/>
              <a:t>over performers</a:t>
            </a:r>
            <a:r>
              <a:rPr lang="en-US" sz="2400" dirty="0"/>
              <a:t>) </a:t>
            </a:r>
          </a:p>
          <a:p>
            <a:pPr lvl="1"/>
            <a:r>
              <a:rPr lang="en-US" sz="2400" dirty="0"/>
              <a:t>High-budget films with low revenue (underperformers) </a:t>
            </a:r>
          </a:p>
          <a:p>
            <a:r>
              <a:rPr lang="en-US" sz="2400" dirty="0"/>
              <a:t>Most films were concentrated in the low-budget range 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Budget influences performance but does not guarantee success; other factors such as storytelling, marketing, and audience reception also play a role.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30762"/>
          </a:xfrm>
        </p:spPr>
        <p:txBody>
          <a:bodyPr>
            <a:noAutofit/>
          </a:bodyPr>
          <a:lstStyle/>
          <a:p>
            <a:r>
              <a:rPr lang="en-US" sz="2400" b="1" dirty="0"/>
              <a:t>4.5 Hidden Gems by Decade</a:t>
            </a:r>
          </a:p>
          <a:p>
            <a:r>
              <a:rPr lang="en-US" sz="2400" dirty="0"/>
              <a:t>“Hidden gems” were approximated using highly rated films (TMDB rating ≥ 8) </a:t>
            </a:r>
          </a:p>
          <a:p>
            <a:r>
              <a:rPr lang="en-US" sz="2400" dirty="0"/>
              <a:t>The 2010s recorded the highest number of high-rated films </a:t>
            </a:r>
          </a:p>
          <a:p>
            <a:r>
              <a:rPr lang="en-US" sz="2400" dirty="0"/>
              <a:t>Early decades such as the 1910s had very low counts, partly due to limited production and data availability </a:t>
            </a:r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/>
              <a:t>Recent decades show increased production and quality of animated films.</a:t>
            </a:r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91340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30762"/>
          </a:xfrm>
        </p:spPr>
        <p:txBody>
          <a:bodyPr>
            <a:noAutofit/>
          </a:bodyPr>
          <a:lstStyle/>
          <a:p>
            <a:r>
              <a:rPr lang="en-US" sz="2400" b="1" dirty="0"/>
              <a:t>4.6 Global Production Distribution (World Map)</a:t>
            </a:r>
          </a:p>
          <a:p>
            <a:r>
              <a:rPr lang="en-US" sz="2400" dirty="0"/>
              <a:t>North America, Europe, and Asia dominate animation production </a:t>
            </a:r>
          </a:p>
          <a:p>
            <a:r>
              <a:rPr lang="en-US" sz="2400" dirty="0"/>
              <a:t>The United States, Japan, and China are major contributors </a:t>
            </a:r>
          </a:p>
          <a:p>
            <a:r>
              <a:rPr lang="en-US" sz="2400" dirty="0"/>
              <a:t>African countries show very limited animation </a:t>
            </a:r>
            <a:r>
              <a:rPr lang="en-US" sz="2400" dirty="0" smtClean="0"/>
              <a:t>production </a:t>
            </a:r>
          </a:p>
          <a:p>
            <a:pPr marL="0" indent="0">
              <a:buNone/>
            </a:pPr>
            <a:r>
              <a:rPr lang="en-US" sz="2400" dirty="0" smtClean="0"/>
              <a:t>There is a significant regional imbalance in global animation production.</a:t>
            </a:r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56267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Animation</a:t>
            </a:r>
            <a:r>
              <a:rPr lang="en-US" dirty="0"/>
              <a:t> </a:t>
            </a:r>
            <a:r>
              <a:rPr lang="en-US" dirty="0" smtClean="0"/>
              <a:t>History</a:t>
            </a:r>
            <a:r>
              <a:rPr dirty="0" smtClean="0"/>
              <a:t> Timeline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24"/>
            <a:ext cx="805303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Animation evolved from early motion studies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milestones include: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1908: First animated film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1928: Introduction of sound animation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1995: First full CGI film (Toy Story)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2000s–present: CGI dominance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 </a:t>
            </a:r>
            <a:r>
              <a:rPr lang="en-US" altLang="en-US" dirty="0" smtClean="0"/>
              <a:t>                      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AI-assisted animation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Growth in animation accelerated significantly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/>
              <a:t> </a:t>
            </a:r>
            <a:r>
              <a:rPr lang="en-US" altLang="en-US" dirty="0" smtClean="0"/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after the 1990s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</a:t>
            </a:r>
            <a:r>
              <a:rPr dirty="0" smtClean="0"/>
              <a:t>Insights</a:t>
            </a:r>
            <a:r>
              <a:rPr lang="en-US" dirty="0" smtClean="0"/>
              <a:t> Summary</a:t>
            </a:r>
            <a:endParaRPr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8654" y="1485364"/>
            <a:ext cx="850669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CGI/3D animation has replaced traditional 2D animation in modern decades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United States, Japan, and parts of Europe dominate animation production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Budget and revenue show a positive but inconsistent relationship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Recent decades (especially 2010s) show increased production of high-rated films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Animation industry growth is strongly linked to technological advancement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There is a global imbalance in animation production capacity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573131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 percentage of missing values in financial data (budget and box office) limited full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Some country entries contained multiple countries, requiring simplification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“Hidden gem” definition was approximated due to lack of full commercial performance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Early historical data (1910s and earlier) is limited and may not fully represent production reality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smtClean="0"/>
              <a:t>Animation </a:t>
            </a:r>
            <a:r>
              <a:rPr sz="2400" dirty="0"/>
              <a:t>industry has evolved from hand-drawn techniques to advanced CGI and AI-driven production. The analysis shows strong technological influence, global imbalance in production, and inconsistent relationship between budget and success</a:t>
            </a:r>
            <a:r>
              <a:rPr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Con</a:t>
            </a:r>
            <a:r>
              <a:rPr lang="en-US" dirty="0" smtClean="0"/>
              <a:t>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analysis of the animated films dataset reveals a clear evolution of the animation industry from its early experimental stages in the late 19th century to a highly digital and globalized industry today.</a:t>
            </a:r>
          </a:p>
          <a:p>
            <a:r>
              <a:rPr lang="en-US" sz="2400" dirty="0"/>
              <a:t>Technological advancement has played a major role in shaping animation trends, with CGI and 3D animation becoming dominant in recent decades. While traditional </a:t>
            </a:r>
            <a:r>
              <a:rPr lang="en-US" sz="2400" dirty="0" smtClean="0"/>
              <a:t>2D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805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Con</a:t>
            </a:r>
            <a:r>
              <a:rPr lang="en-US" dirty="0" smtClean="0"/>
              <a:t>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animation has declined, it remains an important part of animation history.</a:t>
            </a:r>
          </a:p>
          <a:p>
            <a:r>
              <a:rPr lang="en-US" sz="2400" dirty="0"/>
              <a:t>The study also highlights global inequalities in animation production, with a strong concentration in North America, Europe, and Asia, while African countries remain underrepresented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66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Con</a:t>
            </a:r>
            <a:r>
              <a:rPr lang="en-US" dirty="0" smtClean="0"/>
              <a:t>tinuation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Financial analysis shows that while higher budgets can contribute to higher revenue, they do not guarantee success, indicating that creative and market factors are also critical.</a:t>
            </a:r>
          </a:p>
          <a:p>
            <a:r>
              <a:rPr lang="en-US" sz="2400" dirty="0"/>
              <a:t>Overall, this project demonstrates how data analysis can be used to uncover meaningful insights into the evolution, distribution, and performance of animated films over time.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451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1037</Words>
  <Application>Microsoft Office PowerPoint</Application>
  <PresentationFormat>On-screen Show (4:3)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Animation Films Data Analysis (1878–2029)</vt:lpstr>
      <vt:lpstr>Problem Statement</vt:lpstr>
      <vt:lpstr>Objectives</vt:lpstr>
      <vt:lpstr>Continuation</vt:lpstr>
      <vt:lpstr>Dataset Overview</vt:lpstr>
      <vt:lpstr>Data Cleaning and Preparation</vt:lpstr>
      <vt:lpstr>Exploratory Data Analysis (EDA) Findings</vt:lpstr>
      <vt:lpstr>Continuation</vt:lpstr>
      <vt:lpstr>Continuation</vt:lpstr>
      <vt:lpstr>Continuation</vt:lpstr>
      <vt:lpstr>Continuation</vt:lpstr>
      <vt:lpstr>Continuation</vt:lpstr>
      <vt:lpstr>Animation History Timeline </vt:lpstr>
      <vt:lpstr>Key Insights Summary</vt:lpstr>
      <vt:lpstr>Limitations</vt:lpstr>
      <vt:lpstr>Conclusion</vt:lpstr>
      <vt:lpstr>Continuation</vt:lpstr>
      <vt:lpstr>Continuation</vt:lpstr>
      <vt:lpstr>Continuation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Films Data Analysis (1878–2029)</dc:title>
  <dc:subject/>
  <dc:creator/>
  <cp:keywords/>
  <dc:description>generated using python-pptx</dc:description>
  <cp:lastModifiedBy>ICT Intern</cp:lastModifiedBy>
  <cp:revision>7</cp:revision>
  <dcterms:created xsi:type="dcterms:W3CDTF">2013-01-27T09:14:16Z</dcterms:created>
  <dcterms:modified xsi:type="dcterms:W3CDTF">2026-04-29T09:40:46Z</dcterms:modified>
  <cp:category/>
</cp:coreProperties>
</file>